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66" r:id="rId9"/>
    <p:sldId id="271" r:id="rId10"/>
    <p:sldId id="267" r:id="rId11"/>
    <p:sldId id="272" r:id="rId12"/>
    <p:sldId id="268" r:id="rId13"/>
    <p:sldId id="269" r:id="rId14"/>
    <p:sldId id="274" r:id="rId15"/>
    <p:sldId id="275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hu.eus/ccwintco/index.php/Hyperspectral_Remote_Sensing_Scenes" TargetMode="External"/><Relationship Id="rId2" Type="http://schemas.openxmlformats.org/officeDocument/2006/relationships/hyperlink" Target="https://github.com/hacarus/hsi-open-dataset/tree/master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arthexplorer.usgs.gov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9325"/>
            <a:ext cx="7772400" cy="1470025"/>
          </a:xfrm>
        </p:spPr>
        <p:txBody>
          <a:bodyPr/>
          <a:lstStyle/>
          <a:p>
            <a:r>
              <a:rPr dirty="0"/>
              <a:t>Maximum Noise Fraction (MNF) Transform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05100"/>
            <a:ext cx="6400800" cy="1752600"/>
          </a:xfrm>
        </p:spPr>
        <p:txBody>
          <a:bodyPr/>
          <a:lstStyle/>
          <a:p>
            <a:r>
              <a:rPr dirty="0"/>
              <a:t>Dimensionality Reduction for Hyperspectral Images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CC564-E4D3-0E3A-C246-236FB08D9C35}"/>
              </a:ext>
            </a:extLst>
          </p:cNvPr>
          <p:cNvSpPr txBox="1"/>
          <p:nvPr/>
        </p:nvSpPr>
        <p:spPr>
          <a:xfrm>
            <a:off x="0" y="48895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Project ID : 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B08CE-A7C7-06BA-5524-527BF81AA883}"/>
              </a:ext>
            </a:extLst>
          </p:cNvPr>
          <p:cNvSpPr txBox="1"/>
          <p:nvPr/>
        </p:nvSpPr>
        <p:spPr>
          <a:xfrm>
            <a:off x="5670550" y="4405741"/>
            <a:ext cx="3187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000" dirty="0"/>
              <a:t>Durgesh (23b4203)</a:t>
            </a:r>
          </a:p>
          <a:p>
            <a:pPr marL="285750" indent="-285750">
              <a:buFontTx/>
              <a:buChar char="-"/>
            </a:pPr>
            <a:r>
              <a:rPr lang="en-IN" sz="2000" dirty="0"/>
              <a:t>Kalpesh Khare (22b0069)</a:t>
            </a:r>
          </a:p>
          <a:p>
            <a:pPr marL="285750" indent="-285750">
              <a:buFontTx/>
              <a:buChar char="-"/>
            </a:pPr>
            <a:r>
              <a:rPr lang="en-IN" sz="2000" dirty="0"/>
              <a:t>Nikhil Jha (22b0002)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MNF?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MNF = Maximum Noise Fraction Transform</a:t>
            </a:r>
          </a:p>
          <a:p>
            <a:r>
              <a:t>Two-stage transform: noise whitening + PCA</a:t>
            </a:r>
          </a:p>
          <a:p>
            <a:r>
              <a:t>Separates signal and noise in hyperspectral images</a:t>
            </a:r>
          </a:p>
          <a:p>
            <a:r>
              <a:t>Preserves high SNR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Covariance Matrix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Given data matrix X (n samples × k features):</a:t>
            </a:r>
          </a:p>
          <a:p>
            <a:r>
              <a:rPr dirty="0"/>
              <a:t>Mean vector: μ = mean(X, axis=0)</a:t>
            </a:r>
          </a:p>
          <a:p>
            <a:r>
              <a:rPr dirty="0"/>
              <a:t>Covariance: Σ = (1 / (n - 1)) * (X - μ)^T * (X - μ)</a:t>
            </a:r>
          </a:p>
          <a:p>
            <a:r>
              <a:rPr dirty="0"/>
              <a:t>Used to estimate noise and signal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Steps of MNF with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Estimate noise: ΔX(</a:t>
            </a:r>
            <a:r>
              <a:rPr dirty="0" err="1"/>
              <a:t>i,j</a:t>
            </a:r>
            <a:r>
              <a:rPr dirty="0"/>
              <a:t>) = X(</a:t>
            </a:r>
            <a:r>
              <a:rPr dirty="0" err="1"/>
              <a:t>i,j</a:t>
            </a:r>
            <a:r>
              <a:rPr dirty="0"/>
              <a:t>) - X(i,j+1)</a:t>
            </a:r>
          </a:p>
          <a:p>
            <a:pPr marL="0" indent="0">
              <a:buNone/>
            </a:pPr>
            <a:r>
              <a:rPr dirty="0"/>
              <a:t>2. Compute noise covariance: </a:t>
            </a:r>
            <a:r>
              <a:rPr dirty="0" err="1"/>
              <a:t>Σn</a:t>
            </a:r>
            <a:r>
              <a:rPr dirty="0"/>
              <a:t> = </a:t>
            </a:r>
            <a:r>
              <a:rPr dirty="0" err="1"/>
              <a:t>Cov</a:t>
            </a:r>
            <a:r>
              <a:rPr dirty="0"/>
              <a:t>(ΔX)</a:t>
            </a:r>
          </a:p>
          <a:p>
            <a:pPr marL="0" indent="0">
              <a:buNone/>
            </a:pPr>
            <a:r>
              <a:rPr dirty="0"/>
              <a:t>3. Whitening: F = </a:t>
            </a:r>
            <a:r>
              <a:rPr dirty="0" err="1"/>
              <a:t>Λn</a:t>
            </a:r>
            <a:r>
              <a:rPr dirty="0"/>
              <a:t>^(-1/2) </a:t>
            </a:r>
            <a:r>
              <a:rPr dirty="0" err="1"/>
              <a:t>En^T</a:t>
            </a:r>
            <a:endParaRPr dirty="0"/>
          </a:p>
          <a:p>
            <a:pPr marL="0" indent="0">
              <a:buNone/>
            </a:pPr>
            <a:r>
              <a:rPr dirty="0"/>
              <a:t>4. Whitened data: Y = (X - μ) * F^T</a:t>
            </a:r>
          </a:p>
          <a:p>
            <a:pPr marL="0" indent="0">
              <a:buNone/>
            </a:pPr>
            <a:r>
              <a:rPr dirty="0"/>
              <a:t>5. PCA on Y: </a:t>
            </a:r>
            <a:r>
              <a:rPr dirty="0" err="1"/>
              <a:t>Σy</a:t>
            </a:r>
            <a:r>
              <a:rPr dirty="0"/>
              <a:t> = </a:t>
            </a:r>
            <a:r>
              <a:rPr dirty="0" err="1"/>
              <a:t>Cov</a:t>
            </a:r>
            <a:r>
              <a:rPr dirty="0"/>
              <a:t>(Y), Z = Y * Vy</a:t>
            </a:r>
          </a:p>
          <a:p>
            <a:pPr marL="0" indent="0">
              <a:buNone/>
            </a:pPr>
            <a:r>
              <a:rPr dirty="0"/>
              <a:t>6. Reconstruct: </a:t>
            </a:r>
            <a:r>
              <a:rPr dirty="0" err="1"/>
              <a:t>X_approx</a:t>
            </a:r>
            <a:r>
              <a:rPr dirty="0"/>
              <a:t> = ((</a:t>
            </a:r>
            <a:r>
              <a:rPr dirty="0" err="1"/>
              <a:t>Z_n</a:t>
            </a:r>
            <a:r>
              <a:rPr dirty="0"/>
              <a:t> * </a:t>
            </a:r>
            <a:r>
              <a:rPr dirty="0" err="1"/>
              <a:t>Vy^T</a:t>
            </a:r>
            <a:r>
              <a:rPr dirty="0"/>
              <a:t>) * F^-T) + 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MNF is Better than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only maximizes variance, not SNR</a:t>
            </a:r>
          </a:p>
          <a:p>
            <a:r>
              <a:t>MNF separates noise before PCA</a:t>
            </a:r>
          </a:p>
          <a:p>
            <a:r>
              <a:t>Keeps meaningful components with high SNR</a:t>
            </a:r>
          </a:p>
          <a:p>
            <a:r>
              <a:t>Better denoising and compression for hyperspectral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Remote Sensing: clean band selection from hyperspectral images</a:t>
            </a:r>
          </a:p>
          <a:p>
            <a:r>
              <a:t>Geology: mineral mapping from satellite data</a:t>
            </a:r>
          </a:p>
          <a:p>
            <a:r>
              <a:t>Medical Imaging: reduce noise in spectral MRI, pathology</a:t>
            </a:r>
          </a:p>
          <a:p>
            <a:r>
              <a:t>Agriculture: crop health classification from airborne sensors</a:t>
            </a:r>
          </a:p>
          <a:p>
            <a:r>
              <a:t>Surveillance: detect man-made objects in noisy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BB2CC6-4288-D5D4-3ACF-A950B9FF0E38}"/>
              </a:ext>
            </a:extLst>
          </p:cNvPr>
          <p:cNvSpPr txBox="1"/>
          <p:nvPr/>
        </p:nvSpPr>
        <p:spPr>
          <a:xfrm>
            <a:off x="1" y="1626375"/>
            <a:ext cx="9143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OUR IMPLEMENTATION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233020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We implemented MNF transform from scratch using only NumPy.</a:t>
            </a:r>
          </a:p>
          <a:p>
            <a:r>
              <a:rPr sz="2800" dirty="0"/>
              <a:t>- Manual covariance matrix calculation (chunked)</a:t>
            </a:r>
          </a:p>
          <a:p>
            <a:r>
              <a:rPr sz="2800" dirty="0"/>
              <a:t>- Memory-safe MSE computation</a:t>
            </a:r>
          </a:p>
          <a:p>
            <a:r>
              <a:rPr sz="2800" dirty="0"/>
              <a:t>- Whitening + PCA via SVD</a:t>
            </a:r>
          </a:p>
          <a:p>
            <a:r>
              <a:rPr sz="2800" dirty="0"/>
              <a:t>- Includes elbow point detection</a:t>
            </a:r>
          </a:p>
          <a:p>
            <a:endParaRPr sz="2800" dirty="0"/>
          </a:p>
          <a:p>
            <a:r>
              <a:rPr sz="2800" dirty="0"/>
              <a:t>Refer to mnf_transform_improved_final.py for detailed steps.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8D9B-2B24-EFBC-6D1A-8CD932E8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E186-4EAC-AE9B-2198-97326D3C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3619"/>
            <a:ext cx="914399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Manual Steps in MNF Implementation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9C6606-487E-131E-38A5-6595CE703A5A}"/>
              </a:ext>
            </a:extLst>
          </p:cNvPr>
          <p:cNvSpPr txBox="1"/>
          <p:nvPr/>
        </p:nvSpPr>
        <p:spPr>
          <a:xfrm>
            <a:off x="258272" y="690296"/>
            <a:ext cx="310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Noise Estimation + Covariance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B5D646-5629-9405-4B08-6DC60F8622E2}"/>
              </a:ext>
            </a:extLst>
          </p:cNvPr>
          <p:cNvSpPr txBox="1"/>
          <p:nvPr/>
        </p:nvSpPr>
        <p:spPr>
          <a:xfrm>
            <a:off x="258272" y="5618066"/>
            <a:ext cx="310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Whitening and Reconstruction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DBFAC7-0904-D246-86ED-1D5923804F49}"/>
              </a:ext>
            </a:extLst>
          </p:cNvPr>
          <p:cNvSpPr txBox="1"/>
          <p:nvPr/>
        </p:nvSpPr>
        <p:spPr>
          <a:xfrm>
            <a:off x="252992" y="3137721"/>
            <a:ext cx="431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Whitening Matrix &amp; Eigen-Decomposition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D34737-E507-B9EF-1FE4-9FC986141484}"/>
              </a:ext>
            </a:extLst>
          </p:cNvPr>
          <p:cNvSpPr txBox="1"/>
          <p:nvPr/>
        </p:nvSpPr>
        <p:spPr>
          <a:xfrm>
            <a:off x="4428962" y="4425061"/>
            <a:ext cx="3102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MSE Computation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B051F-3135-3D38-5B0D-CC49C4314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878" y="4794393"/>
            <a:ext cx="4542540" cy="1605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885B6-7096-FA74-E1A4-DF3E7F19E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46" y="1043626"/>
            <a:ext cx="3395121" cy="1619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7F40BD-E26E-46F1-5EC9-89745BAC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46" y="2704493"/>
            <a:ext cx="3395121" cy="3693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3AA1FC-99BD-314A-4DAE-F5D3821B2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16" y="3472857"/>
            <a:ext cx="2991004" cy="997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D75C8D-AF58-0A15-801F-8F92475DB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15" y="4559124"/>
            <a:ext cx="3460997" cy="1401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D5E2E4-4BCB-E751-8560-FC41B77617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05" y="4780291"/>
            <a:ext cx="3491607" cy="8382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6E542F-C640-A72A-8B94-12049C065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485" y="5928032"/>
            <a:ext cx="3621159" cy="8597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A25C89-6213-8832-BB5C-C9838480C5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8962" y="1725236"/>
            <a:ext cx="3647075" cy="8876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CC9D9A-CB60-5524-FD34-CFBAFB2BA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4731" y="2692625"/>
            <a:ext cx="3966011" cy="17363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D3465C7-BC4F-73E7-0D51-810CFBC673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2136" y="1213939"/>
            <a:ext cx="3647075" cy="3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1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User Interface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Our GUI allows user-friendly interaction with the MNF pipeline:</a:t>
            </a:r>
          </a:p>
          <a:p>
            <a:r>
              <a:rPr dirty="0"/>
              <a:t>- Load .</a:t>
            </a:r>
            <a:r>
              <a:rPr dirty="0" err="1"/>
              <a:t>npy</a:t>
            </a:r>
            <a:r>
              <a:rPr dirty="0"/>
              <a:t>, .mat, .tiff images</a:t>
            </a:r>
          </a:p>
          <a:p>
            <a:r>
              <a:rPr dirty="0"/>
              <a:t>- Crop, select chunk size, and number of MNF components</a:t>
            </a:r>
          </a:p>
          <a:p>
            <a:r>
              <a:rPr dirty="0"/>
              <a:t>- View results: MSE vs Components, MNF bands, RGB comparisons</a:t>
            </a:r>
          </a:p>
          <a:p>
            <a:r>
              <a:rPr dirty="0"/>
              <a:t>- Automatically finds elbow point for optimal compression</a:t>
            </a:r>
          </a:p>
          <a:p>
            <a:endParaRPr dirty="0"/>
          </a:p>
          <a:p>
            <a:r>
              <a:rPr dirty="0"/>
              <a:t>Refer to mnf_gui_improved_final.py for full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74E5-9D20-016B-FC75-810375064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6FC3-69DB-E3B3-B78B-9A6C6FE7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GUI Screenshot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074B8-C6DE-511B-F275-F0F79AD7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254125"/>
            <a:ext cx="5059935" cy="4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018"/>
            <a:ext cx="8229600" cy="1143000"/>
          </a:xfrm>
        </p:spPr>
        <p:txBody>
          <a:bodyPr/>
          <a:lstStyle/>
          <a:p>
            <a:r>
              <a:rPr dirty="0"/>
              <a:t>Image Results: Satellite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60985-6041-35BB-B16D-7E99C83B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182322"/>
            <a:ext cx="3493566" cy="2916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94215-BB98-CCF7-A7D4-5820E9EC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966" y="1373369"/>
            <a:ext cx="4944890" cy="2534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58ECD-F29F-F540-47DE-2E25BC3C5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924" y="4139996"/>
            <a:ext cx="4792152" cy="2388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9062"/>
            <a:ext cx="8229600" cy="1143000"/>
          </a:xfrm>
        </p:spPr>
        <p:txBody>
          <a:bodyPr/>
          <a:lstStyle/>
          <a:p>
            <a:r>
              <a:rPr dirty="0"/>
              <a:t>Image Results</a:t>
            </a:r>
            <a:r>
              <a:rPr lang="en-IN" dirty="0"/>
              <a:t>: Salinas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EF5A81-A86E-6209-2555-41B3DE3B3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965090"/>
            <a:ext cx="4407680" cy="250495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C02B38-0811-513D-340D-B428A2D4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92"/>
          <a:stretch/>
        </p:blipFill>
        <p:spPr>
          <a:xfrm>
            <a:off x="264897" y="920640"/>
            <a:ext cx="4309626" cy="2942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B4D1D-DA42-D8D5-8ABE-F14DCE67F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320" y="3635107"/>
            <a:ext cx="4407680" cy="2597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9B082-DEF2-568F-2E72-F4A570209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69" y="3993782"/>
            <a:ext cx="4247031" cy="22583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517B-D9C6-F718-DECD-653D38C4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76C1-0413-4BF5-534C-C033B8D5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5562"/>
            <a:ext cx="8229600" cy="1143000"/>
          </a:xfrm>
        </p:spPr>
        <p:txBody>
          <a:bodyPr/>
          <a:lstStyle/>
          <a:p>
            <a:r>
              <a:rPr dirty="0"/>
              <a:t>Image Results</a:t>
            </a:r>
            <a:r>
              <a:rPr lang="en-IN" dirty="0"/>
              <a:t>: Coffee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E700A-8CE2-599F-60F1-FF7F0C329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2" y="1002026"/>
            <a:ext cx="3732031" cy="1796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A6769B-D4C2-12BB-7163-D1C61F3D5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1" y="1002026"/>
            <a:ext cx="3893828" cy="194472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E9FBE77-9E36-D6A7-BB00-28EB8663AF25}"/>
              </a:ext>
            </a:extLst>
          </p:cNvPr>
          <p:cNvSpPr txBox="1">
            <a:spLocks/>
          </p:cNvSpPr>
          <p:nvPr/>
        </p:nvSpPr>
        <p:spPr>
          <a:xfrm>
            <a:off x="549148" y="29162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Image Results: Rice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B5184A-CE56-C040-6095-6243C0EB6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2" y="3923026"/>
            <a:ext cx="3893828" cy="16336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60E6B3-A007-5E7E-8011-F8746DCC3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935" y="3923026"/>
            <a:ext cx="3935865" cy="198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15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2377-6F15-0AB5-A66F-BE953E5F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Images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F5D15-1295-0211-1DC1-D1B9504EC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928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>
                <a:hlinkClick r:id="rId2"/>
              </a:rPr>
              <a:t>https://github.com/hacarus/hsi-open-dataset/tree/master/data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>
                <a:hlinkClick r:id="rId3"/>
              </a:rPr>
              <a:t>https://www.ehu.eus/ccwintco/index.php/Hyperspectral_Remote_Sensing_Scenes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>
                <a:hlinkClick r:id="rId4"/>
              </a:rPr>
              <a:t>https://earthexplorer.usgs.gov/</a:t>
            </a:r>
            <a:endParaRPr lang="en-IN" dirty="0"/>
          </a:p>
          <a:p>
            <a:pPr marL="514350" indent="-514350"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39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90BF-5217-42E6-9080-A605BD0B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26112"/>
          </a:xfrm>
        </p:spPr>
        <p:txBody>
          <a:bodyPr>
            <a:noAutofit/>
          </a:bodyPr>
          <a:lstStyle/>
          <a:p>
            <a:r>
              <a:rPr lang="en-IN" sz="19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010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520</Words>
  <Application>Microsoft Office PowerPoint</Application>
  <PresentationFormat>On-screen Show (4:3)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Maximum Noise Fraction (MNF) Transform</vt:lpstr>
      <vt:lpstr>What is MNF?</vt:lpstr>
      <vt:lpstr>Covariance Matrix Formula</vt:lpstr>
      <vt:lpstr>Steps of MNF with Formulas</vt:lpstr>
      <vt:lpstr>Why MNF is Better than PCA</vt:lpstr>
      <vt:lpstr>Applications of MNF</vt:lpstr>
      <vt:lpstr>PowerPoint Presentation</vt:lpstr>
      <vt:lpstr>Source Code Overview</vt:lpstr>
      <vt:lpstr>Key Manual Steps in MNF Implementation</vt:lpstr>
      <vt:lpstr>Graphical User Interface (GUI)</vt:lpstr>
      <vt:lpstr>GUI Screenshot</vt:lpstr>
      <vt:lpstr>Image Results: Satellite</vt:lpstr>
      <vt:lpstr>Image Results: Salinas</vt:lpstr>
      <vt:lpstr>Image Results: Coffee</vt:lpstr>
      <vt:lpstr>Images 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 K Jha</dc:creator>
  <cp:keywords/>
  <dc:description>generated using python-pptx</dc:description>
  <cp:lastModifiedBy>Durgesh Kumar Jha</cp:lastModifiedBy>
  <cp:revision>16</cp:revision>
  <dcterms:created xsi:type="dcterms:W3CDTF">2013-01-27T09:14:16Z</dcterms:created>
  <dcterms:modified xsi:type="dcterms:W3CDTF">2025-05-02T12:10:38Z</dcterms:modified>
  <cp:category/>
</cp:coreProperties>
</file>